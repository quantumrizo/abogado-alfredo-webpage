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y="5143500" cx="9144000"/>
  <p:notesSz cx="6858000" cy="9144000"/>
  <p:embeddedFontLst>
    <p:embeddedFont>
      <p:font typeface="Montserrat Light"/>
      <p:regular r:id="rId21"/>
      <p:bold r:id="rId22"/>
      <p:italic r:id="rId23"/>
      <p:boldItalic r:id="rId24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880EA03A-4288-47FD-A2B5-A5AFC626DCEF}">
  <a:tblStyle styleId="{880EA03A-4288-47FD-A2B5-A5AFC626DCEF}" styleName="Table_0">
    <a:wholeTbl>
      <a:tcTxStyle>
        <a:font>
          <a:latin typeface="Arial"/>
          <a:ea typeface="Arial"/>
          <a:cs typeface="Arial"/>
        </a:font>
        <a:srgbClr val="000000"/>
      </a:tcTx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4.xml"/><Relationship Id="rId11" Type="http://schemas.openxmlformats.org/officeDocument/2006/relationships/slide" Target="slides/slide5.xml"/><Relationship Id="rId22" Type="http://schemas.openxmlformats.org/officeDocument/2006/relationships/font" Target="fonts/MontserratLight-bold.fntdata"/><Relationship Id="rId10" Type="http://schemas.openxmlformats.org/officeDocument/2006/relationships/slide" Target="slides/slide4.xml"/><Relationship Id="rId21" Type="http://schemas.openxmlformats.org/officeDocument/2006/relationships/font" Target="fonts/MontserratLight-regular.fntdata"/><Relationship Id="rId13" Type="http://schemas.openxmlformats.org/officeDocument/2006/relationships/slide" Target="slides/slide7.xml"/><Relationship Id="rId24" Type="http://schemas.openxmlformats.org/officeDocument/2006/relationships/font" Target="fonts/MontserratLight-boldItalic.fntdata"/><Relationship Id="rId12" Type="http://schemas.openxmlformats.org/officeDocument/2006/relationships/slide" Target="slides/slide6.xml"/><Relationship Id="rId23" Type="http://schemas.openxmlformats.org/officeDocument/2006/relationships/font" Target="fonts/MontserratLight-italic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5" Type="http://schemas.openxmlformats.org/officeDocument/2006/relationships/slideMaster" Target="slideMasters/slideMaster1.xml"/><Relationship Id="rId19" Type="http://schemas.openxmlformats.org/officeDocument/2006/relationships/slide" Target="slides/slide13.xml"/><Relationship Id="rId6" Type="http://schemas.openxmlformats.org/officeDocument/2006/relationships/notesMaster" Target="notesMasters/notesMaster1.xml"/><Relationship Id="rId18" Type="http://schemas.openxmlformats.org/officeDocument/2006/relationships/slide" Target="slides/slide12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g409eaa44e76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g409eaa44e76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g409eaa44e76_0_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9" name="Google Shape;59;g409eaa44e76_0_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g409eaa44e76_0_11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4" name="Google Shape;64;g409eaa44e76_0_1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g409eaa44e76_0_11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1" name="Google Shape;71;g409eaa44e76_0_1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g409eaa44e76_0_12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7" name="Google Shape;77;g409eaa44e76_0_1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g409eaa44e76_0_12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4" name="Google Shape;84;g409eaa44e76_0_12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g409eaa44e76_0_2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1" name="Google Shape;91;g409eaa44e76_0_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g409eaa44e76_0_3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6" name="Google Shape;96;g409eaa44e76_0_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g409eaa44e76_0_3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4" name="Google Shape;104;g409eaa44e76_0_3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g409eaa44e76_0_10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0" name="Google Shape;110;g409eaa44e76_0_10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g409eaa44e76_0_9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7" name="Google Shape;117;g409eaa44e76_0_9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g409eaa44e76_0_4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4" name="Google Shape;124;g409eaa44e76_0_4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g409eaa44e76_0_13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9" name="Google Shape;129;g409eaa44e76_0_13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g409eaa44e76_0_14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5" name="Google Shape;135;g409eaa44e76_0_14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/>
          <p:nvPr/>
        </p:nvSpPr>
        <p:spPr>
          <a:xfrm>
            <a:off x="150" y="4067500"/>
            <a:ext cx="9144000" cy="1075800"/>
          </a:xfrm>
          <a:prstGeom prst="rect">
            <a:avLst/>
          </a:prstGeom>
          <a:solidFill>
            <a:srgbClr val="073763"/>
          </a:solidFill>
          <a:ln cap="flat" cmpd="sng" w="9525">
            <a:solidFill>
              <a:srgbClr val="07376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55" name="Google Shape;55;p1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450338" y="-530699"/>
            <a:ext cx="5674173" cy="5674199"/>
          </a:xfrm>
          <a:prstGeom prst="rect">
            <a:avLst/>
          </a:prstGeom>
          <a:noFill/>
          <a:ln>
            <a:noFill/>
          </a:ln>
        </p:spPr>
      </p:pic>
      <p:sp>
        <p:nvSpPr>
          <p:cNvPr id="56" name="Google Shape;56;p13"/>
          <p:cNvSpPr txBox="1"/>
          <p:nvPr>
            <p:ph idx="1" type="subTitle"/>
          </p:nvPr>
        </p:nvSpPr>
        <p:spPr>
          <a:xfrm>
            <a:off x="2606100" y="4250400"/>
            <a:ext cx="3931800" cy="523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 fontScale="775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lt1"/>
                </a:solidFill>
                <a:latin typeface="Montserrat Light"/>
                <a:ea typeface="Montserrat Light"/>
                <a:cs typeface="Montserrat Light"/>
                <a:sym typeface="Montserrat Light"/>
              </a:rPr>
              <a:t>CALENDARIO SEPTIEMBRE- OCTUBRE</a:t>
            </a:r>
            <a:endParaRPr sz="1800">
              <a:solidFill>
                <a:schemeClr val="lt1"/>
              </a:solidFill>
              <a:latin typeface="Montserrat Light"/>
              <a:ea typeface="Montserrat Light"/>
              <a:cs typeface="Montserrat Light"/>
              <a:sym typeface="Montserrat Light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73763"/>
        </a:solidFill>
      </p:bgPr>
    </p:bg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14"/>
          <p:cNvSpPr txBox="1"/>
          <p:nvPr/>
        </p:nvSpPr>
        <p:spPr>
          <a:xfrm>
            <a:off x="1217400" y="1925250"/>
            <a:ext cx="6709200" cy="1293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7200">
                <a:solidFill>
                  <a:schemeClr val="lt1"/>
                </a:solidFill>
              </a:rPr>
              <a:t>HISTORIAS</a:t>
            </a:r>
            <a:endParaRPr b="1" sz="72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SEMANA 1</a:t>
            </a:r>
            <a:endParaRPr b="1"/>
          </a:p>
        </p:txBody>
      </p:sp>
      <p:graphicFrame>
        <p:nvGraphicFramePr>
          <p:cNvPr id="67" name="Google Shape;67;p15"/>
          <p:cNvGraphicFramePr/>
          <p:nvPr/>
        </p:nvGraphicFramePr>
        <p:xfrm>
          <a:off x="423100" y="11584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{880EA03A-4288-47FD-A2B5-A5AFC626DCEF}</a:tableStyleId>
              </a:tblPr>
              <a:tblGrid>
                <a:gridCol w="495300"/>
                <a:gridCol w="4905375"/>
              </a:tblGrid>
              <a:tr h="1905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11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100"/>
                        <a:t>Servicios</a:t>
                      </a:r>
                      <a:endParaRPr b="1" sz="1100"/>
                    </a:p>
                  </a:txBody>
                  <a:tcPr marT="91425" marB="91425" marR="91425" marL="91425"/>
                </a:tc>
              </a:tr>
              <a:tr h="1905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100"/>
                        <a:t>Menú interactivo:</a:t>
                      </a:r>
                      <a:r>
                        <a:rPr lang="en" sz="1100"/>
                        <a:t> “Conoce los servicios con los que podemos ayudarte”</a:t>
                      </a:r>
                      <a:endParaRPr sz="1100"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sp>
        <p:nvSpPr>
          <p:cNvPr id="68" name="Google Shape;68;p15"/>
          <p:cNvSpPr/>
          <p:nvPr/>
        </p:nvSpPr>
        <p:spPr>
          <a:xfrm>
            <a:off x="6028075" y="733250"/>
            <a:ext cx="2044800" cy="333300"/>
          </a:xfrm>
          <a:prstGeom prst="rect">
            <a:avLst/>
          </a:prstGeom>
          <a:solidFill>
            <a:srgbClr val="00FF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ENTREGADO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500">
                <a:solidFill>
                  <a:srgbClr val="000000"/>
                </a:solidFill>
              </a:rPr>
              <a:t>SEMANA 2</a:t>
            </a:r>
            <a:endParaRPr b="1" sz="2500"/>
          </a:p>
        </p:txBody>
      </p:sp>
      <p:graphicFrame>
        <p:nvGraphicFramePr>
          <p:cNvPr id="74" name="Google Shape;74;p16"/>
          <p:cNvGraphicFramePr/>
          <p:nvPr/>
        </p:nvGraphicFramePr>
        <p:xfrm>
          <a:off x="423100" y="11049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{880EA03A-4288-47FD-A2B5-A5AFC626DCEF}</a:tableStyleId>
              </a:tblPr>
              <a:tblGrid>
                <a:gridCol w="1453350"/>
                <a:gridCol w="5563000"/>
              </a:tblGrid>
              <a:tr h="190500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11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100"/>
                        <a:t>INM / SRE 🏛️ </a:t>
                      </a:r>
                      <a:endParaRPr b="1" sz="1100"/>
                    </a:p>
                  </a:txBody>
                  <a:tcPr marT="91425" marB="91425" marR="91425" marL="91425"/>
                </a:tc>
              </a:tr>
              <a:tr h="1905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100"/>
                        <a:t>Quiz:</a:t>
                      </a:r>
                      <a:r>
                        <a:rPr lang="en" sz="1100"/>
                        <a:t> ¿Cuál institución se encarga de los trámites migratorios? → INM / SRE</a:t>
                      </a:r>
                      <a:endParaRPr b="1" sz="1100"/>
                    </a:p>
                  </a:txBody>
                  <a:tcPr marT="91425" marB="91425" marR="91425" marL="91425"/>
                </a:tc>
              </a:tr>
              <a:tr h="1905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2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100"/>
                        <a:t>Mito o realidad:</a:t>
                      </a:r>
                      <a:r>
                        <a:rPr lang="en" sz="1100"/>
                        <a:t> “INM y SRE realizan exactamente las mismas funciones”</a:t>
                      </a:r>
                      <a:endParaRPr b="1" sz="1100"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SEMANA 3</a:t>
            </a:r>
            <a:endParaRPr b="1"/>
          </a:p>
        </p:txBody>
      </p:sp>
      <p:sp>
        <p:nvSpPr>
          <p:cNvPr id="80" name="Google Shape;80;p17"/>
          <p:cNvSpPr txBox="1"/>
          <p:nvPr/>
        </p:nvSpPr>
        <p:spPr>
          <a:xfrm>
            <a:off x="423100" y="1017725"/>
            <a:ext cx="39336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000">
              <a:solidFill>
                <a:schemeClr val="dk1"/>
              </a:solidFill>
            </a:endParaRPr>
          </a:p>
        </p:txBody>
      </p:sp>
      <p:graphicFrame>
        <p:nvGraphicFramePr>
          <p:cNvPr id="81" name="Google Shape;81;p17"/>
          <p:cNvGraphicFramePr/>
          <p:nvPr/>
        </p:nvGraphicFramePr>
        <p:xfrm>
          <a:off x="423100" y="11584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{880EA03A-4288-47FD-A2B5-A5AFC626DCEF}</a:tableStyleId>
              </a:tblPr>
              <a:tblGrid>
                <a:gridCol w="495300"/>
                <a:gridCol w="4905375"/>
              </a:tblGrid>
              <a:tr h="1905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11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100"/>
                        <a:t>Tipos de Visados</a:t>
                      </a:r>
                      <a:endParaRPr b="1" sz="1100"/>
                    </a:p>
                  </a:txBody>
                  <a:tcPr marT="91425" marB="91425" marR="91425" marL="91425"/>
                </a:tc>
              </a:tr>
              <a:tr h="1905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100"/>
                        <a:t>Menú interactivo:</a:t>
                      </a:r>
                      <a:r>
                        <a:rPr lang="en" sz="1100"/>
                        <a:t> “Conoce los visados y cómo </a:t>
                      </a:r>
                      <a:r>
                        <a:rPr lang="en" sz="1100"/>
                        <a:t>obtenerlos</a:t>
                      </a:r>
                      <a:r>
                        <a:rPr lang="en" sz="1100"/>
                        <a:t>”</a:t>
                      </a:r>
                      <a:endParaRPr sz="1100"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SEMANA 4</a:t>
            </a:r>
            <a:endParaRPr b="1"/>
          </a:p>
        </p:txBody>
      </p:sp>
      <p:sp>
        <p:nvSpPr>
          <p:cNvPr id="87" name="Google Shape;87;p18"/>
          <p:cNvSpPr txBox="1"/>
          <p:nvPr/>
        </p:nvSpPr>
        <p:spPr>
          <a:xfrm>
            <a:off x="423100" y="1017725"/>
            <a:ext cx="39336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000">
              <a:solidFill>
                <a:schemeClr val="dk1"/>
              </a:solidFill>
            </a:endParaRPr>
          </a:p>
        </p:txBody>
      </p:sp>
      <p:graphicFrame>
        <p:nvGraphicFramePr>
          <p:cNvPr id="88" name="Google Shape;88;p18"/>
          <p:cNvGraphicFramePr/>
          <p:nvPr/>
        </p:nvGraphicFramePr>
        <p:xfrm>
          <a:off x="423100" y="11049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{880EA03A-4288-47FD-A2B5-A5AFC626DCEF}</a:tableStyleId>
              </a:tblPr>
              <a:tblGrid>
                <a:gridCol w="1453350"/>
                <a:gridCol w="5563000"/>
              </a:tblGrid>
              <a:tr h="1905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11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100">
                          <a:solidFill>
                            <a:schemeClr val="dk1"/>
                          </a:solidFill>
                        </a:rPr>
                        <a:t>Servicios legales</a:t>
                      </a:r>
                      <a:endParaRPr b="1" sz="1100"/>
                    </a:p>
                  </a:txBody>
                  <a:tcPr marT="91425" marB="91425" marR="91425" marL="91425"/>
                </a:tc>
              </a:tr>
              <a:tr h="1905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100"/>
                        <a:t>¿Tu situación migratoria es diferente a la habitual? Podemos orientarte </a:t>
                      </a:r>
                      <a:endParaRPr b="1" sz="1100"/>
                    </a:p>
                  </a:txBody>
                  <a:tcPr marT="91425" marB="91425" marR="91425" marL="91425"/>
                </a:tc>
              </a:tr>
              <a:tr h="1905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2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100"/>
                        <a:t>¿Cuándo necesitas asesoría legal en un proceso migratorio? </a:t>
                      </a:r>
                      <a:endParaRPr b="1" sz="1100"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73763"/>
        </a:solidFill>
      </p:bgPr>
    </p:bg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19"/>
          <p:cNvSpPr txBox="1"/>
          <p:nvPr/>
        </p:nvSpPr>
        <p:spPr>
          <a:xfrm>
            <a:off x="1217400" y="1925250"/>
            <a:ext cx="6709200" cy="1293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7200">
                <a:solidFill>
                  <a:schemeClr val="lt1"/>
                </a:solidFill>
              </a:rPr>
              <a:t>POST</a:t>
            </a:r>
            <a:endParaRPr b="1" sz="72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2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SEMANA</a:t>
            </a:r>
            <a:r>
              <a:rPr b="1" lang="en"/>
              <a:t> 1</a:t>
            </a:r>
            <a:endParaRPr b="1"/>
          </a:p>
        </p:txBody>
      </p:sp>
      <p:sp>
        <p:nvSpPr>
          <p:cNvPr id="99" name="Google Shape;99;p20"/>
          <p:cNvSpPr txBox="1"/>
          <p:nvPr/>
        </p:nvSpPr>
        <p:spPr>
          <a:xfrm>
            <a:off x="423100" y="1017725"/>
            <a:ext cx="39336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000">
              <a:solidFill>
                <a:schemeClr val="dk1"/>
              </a:solidFill>
            </a:endParaRPr>
          </a:p>
        </p:txBody>
      </p:sp>
      <p:sp>
        <p:nvSpPr>
          <p:cNvPr id="100" name="Google Shape;100;p20"/>
          <p:cNvSpPr txBox="1"/>
          <p:nvPr/>
        </p:nvSpPr>
        <p:spPr>
          <a:xfrm>
            <a:off x="423100" y="1017725"/>
            <a:ext cx="60201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 sz="1500">
              <a:solidFill>
                <a:schemeClr val="dk1"/>
              </a:solidFill>
            </a:endParaRPr>
          </a:p>
        </p:txBody>
      </p:sp>
      <p:graphicFrame>
        <p:nvGraphicFramePr>
          <p:cNvPr id="101" name="Google Shape;101;p20"/>
          <p:cNvGraphicFramePr/>
          <p:nvPr/>
        </p:nvGraphicFramePr>
        <p:xfrm>
          <a:off x="311700" y="11584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{880EA03A-4288-47FD-A2B5-A5AFC626DCEF}</a:tableStyleId>
              </a:tblPr>
              <a:tblGrid>
                <a:gridCol w="715075"/>
                <a:gridCol w="6284300"/>
              </a:tblGrid>
              <a:tr h="190500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11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100"/>
                        <a:t>Que és una VISA</a:t>
                      </a:r>
                      <a:endParaRPr b="1" sz="1100"/>
                    </a:p>
                  </a:txBody>
                  <a:tcPr marT="91425" marB="91425" marR="91425" marL="91425"/>
                </a:tc>
              </a:tr>
              <a:tr h="1905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100"/>
                        <a:t>¿Qué es una visa y para qué sirve? </a:t>
                      </a:r>
                      <a:endParaRPr b="1" sz="1100"/>
                    </a:p>
                  </a:txBody>
                  <a:tcPr marT="91425" marB="91425" marR="91425" marL="91425"/>
                </a:tc>
              </a:tr>
              <a:tr h="1905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2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100"/>
                        <a:t>¿Visa, permiso o residencia? Conoce la diferencia </a:t>
                      </a:r>
                      <a:endParaRPr b="1" sz="1100"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2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500">
                <a:solidFill>
                  <a:srgbClr val="000000"/>
                </a:solidFill>
              </a:rPr>
              <a:t>SEMANA 2</a:t>
            </a:r>
            <a:endParaRPr b="1" sz="2500"/>
          </a:p>
        </p:txBody>
      </p:sp>
      <p:graphicFrame>
        <p:nvGraphicFramePr>
          <p:cNvPr id="107" name="Google Shape;107;p21"/>
          <p:cNvGraphicFramePr/>
          <p:nvPr/>
        </p:nvGraphicFramePr>
        <p:xfrm>
          <a:off x="311700" y="11049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{880EA03A-4288-47FD-A2B5-A5AFC626DCEF}</a:tableStyleId>
              </a:tblPr>
              <a:tblGrid>
                <a:gridCol w="706850"/>
                <a:gridCol w="7231650"/>
              </a:tblGrid>
              <a:tr h="190500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11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100"/>
                        <a:t>Despacho Humanización</a:t>
                      </a:r>
                      <a:endParaRPr b="1" sz="1100"/>
                    </a:p>
                  </a:txBody>
                  <a:tcPr marT="91425" marB="91425" marR="91425" marL="91425"/>
                </a:tc>
              </a:tr>
              <a:tr h="1905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100"/>
                        <a:t>¿Qué pasa cuando decides llevar tu proceso migratorio con nosotros?</a:t>
                      </a:r>
                      <a:endParaRPr b="1" sz="1100"/>
                    </a:p>
                  </a:txBody>
                  <a:tcPr marT="91425" marB="91425" marR="91425" marL="91425"/>
                </a:tc>
              </a:tr>
              <a:tr h="1905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2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100"/>
                        <a:t>Así es nuestro proceso: asesoría → revisión → preparación → seguimiento</a:t>
                      </a:r>
                      <a:endParaRPr b="1" sz="1100"/>
                    </a:p>
                  </a:txBody>
                  <a:tcPr marT="91425" marB="91425" marR="91425" marL="91425"/>
                </a:tc>
              </a:tr>
              <a:tr h="1905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3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100"/>
                        <a:t>No solo hacemos trámites: así te acompañamos durante tu proceso migratorio</a:t>
                      </a:r>
                      <a:endParaRPr b="1" sz="1100"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2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SEMANA 3</a:t>
            </a:r>
            <a:endParaRPr b="1"/>
          </a:p>
        </p:txBody>
      </p:sp>
      <p:sp>
        <p:nvSpPr>
          <p:cNvPr id="113" name="Google Shape;113;p22"/>
          <p:cNvSpPr txBox="1"/>
          <p:nvPr/>
        </p:nvSpPr>
        <p:spPr>
          <a:xfrm>
            <a:off x="423100" y="1017725"/>
            <a:ext cx="39336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000">
              <a:solidFill>
                <a:schemeClr val="dk1"/>
              </a:solidFill>
            </a:endParaRPr>
          </a:p>
        </p:txBody>
      </p:sp>
      <p:graphicFrame>
        <p:nvGraphicFramePr>
          <p:cNvPr id="114" name="Google Shape;114;p22"/>
          <p:cNvGraphicFramePr/>
          <p:nvPr/>
        </p:nvGraphicFramePr>
        <p:xfrm>
          <a:off x="311700" y="12654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{880EA03A-4288-47FD-A2B5-A5AFC626DCEF}</a:tableStyleId>
              </a:tblPr>
              <a:tblGrid>
                <a:gridCol w="789600"/>
                <a:gridCol w="6848275"/>
              </a:tblGrid>
              <a:tr h="190500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11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100"/>
                        <a:t>USA TIPOS DE VISA</a:t>
                      </a:r>
                      <a:endParaRPr b="1" sz="1100"/>
                    </a:p>
                  </a:txBody>
                  <a:tcPr marT="91425" marB="91425" marR="91425" marL="91425"/>
                </a:tc>
              </a:tr>
              <a:tr h="1905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100"/>
                        <a:t>Conocer los tipos de VISA USA</a:t>
                      </a:r>
                      <a:endParaRPr b="1" sz="1100"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2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SEMANA 4</a:t>
            </a:r>
            <a:endParaRPr b="1"/>
          </a:p>
        </p:txBody>
      </p:sp>
      <p:sp>
        <p:nvSpPr>
          <p:cNvPr id="120" name="Google Shape;120;p23"/>
          <p:cNvSpPr txBox="1"/>
          <p:nvPr/>
        </p:nvSpPr>
        <p:spPr>
          <a:xfrm>
            <a:off x="423100" y="1017725"/>
            <a:ext cx="39336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000">
              <a:solidFill>
                <a:schemeClr val="dk1"/>
              </a:solidFill>
            </a:endParaRPr>
          </a:p>
        </p:txBody>
      </p:sp>
      <p:graphicFrame>
        <p:nvGraphicFramePr>
          <p:cNvPr id="121" name="Google Shape;121;p23"/>
          <p:cNvGraphicFramePr/>
          <p:nvPr/>
        </p:nvGraphicFramePr>
        <p:xfrm>
          <a:off x="311700" y="12440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{880EA03A-4288-47FD-A2B5-A5AFC626DCEF}</a:tableStyleId>
              </a:tblPr>
              <a:tblGrid>
                <a:gridCol w="805475"/>
                <a:gridCol w="6892975"/>
              </a:tblGrid>
              <a:tr h="1905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11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100"/>
                        <a:t>VISAS CANADÁ (ETA)</a:t>
                      </a:r>
                      <a:endParaRPr b="1" sz="1100"/>
                    </a:p>
                  </a:txBody>
                  <a:tcPr marT="91425" marB="91425" marR="91425" marL="91425"/>
                </a:tc>
              </a:tr>
              <a:tr h="1905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100"/>
                        <a:t>5 documentos que debes considerar para tu solicitud</a:t>
                      </a:r>
                      <a:endParaRPr b="1" sz="1100"/>
                    </a:p>
                  </a:txBody>
                  <a:tcPr marT="91425" marB="91425" marR="91425" marL="91425"/>
                </a:tc>
              </a:tr>
              <a:tr h="1905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2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100"/>
                        <a:t>¿Quieres viajar a Canadá? Estos son los pasos que debes conocer</a:t>
                      </a:r>
                      <a:endParaRPr b="1" sz="1100"/>
                    </a:p>
                  </a:txBody>
                  <a:tcPr marT="91425" marB="91425" marR="91425" marL="91425"/>
                </a:tc>
              </a:tr>
              <a:tr h="1905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3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100"/>
                        <a:t>Visa canadiense: 5 dudas frecuentes antes de solicitarla</a:t>
                      </a:r>
                      <a:endParaRPr b="1" sz="1100"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73763"/>
        </a:solidFill>
      </p:bgPr>
    </p:bg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24"/>
          <p:cNvSpPr txBox="1"/>
          <p:nvPr/>
        </p:nvSpPr>
        <p:spPr>
          <a:xfrm>
            <a:off x="1217400" y="1925250"/>
            <a:ext cx="6709200" cy="1293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7200">
                <a:solidFill>
                  <a:schemeClr val="lt1"/>
                </a:solidFill>
              </a:rPr>
              <a:t>REEL</a:t>
            </a:r>
            <a:endParaRPr b="1" sz="72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2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500">
                <a:solidFill>
                  <a:srgbClr val="000000"/>
                </a:solidFill>
              </a:rPr>
              <a:t>SEMANA 2</a:t>
            </a:r>
            <a:endParaRPr b="1" sz="2500"/>
          </a:p>
        </p:txBody>
      </p:sp>
      <p:graphicFrame>
        <p:nvGraphicFramePr>
          <p:cNvPr id="132" name="Google Shape;132;p25"/>
          <p:cNvGraphicFramePr/>
          <p:nvPr/>
        </p:nvGraphicFramePr>
        <p:xfrm>
          <a:off x="311700" y="12012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{880EA03A-4288-47FD-A2B5-A5AFC626DCEF}</a:tableStyleId>
              </a:tblPr>
              <a:tblGrid>
                <a:gridCol w="834250"/>
                <a:gridCol w="6593850"/>
              </a:tblGrid>
              <a:tr h="1905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11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100"/>
                        <a:t>SENTRI / GLOBAL ENTRY</a:t>
                      </a:r>
                      <a:endParaRPr b="1" sz="1100"/>
                    </a:p>
                  </a:txBody>
                  <a:tcPr marT="91425" marB="91425" marR="91425" marL="91425"/>
                </a:tc>
              </a:tr>
              <a:tr h="1905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100"/>
                        <a:t>SENTRI vs. Global Entry: ¿cuál es la diferencia?</a:t>
                      </a:r>
                      <a:endParaRPr b="1" sz="1100"/>
                    </a:p>
                  </a:txBody>
                  <a:tcPr marT="91425" marB="91425" marR="91425" marL="91425"/>
                </a:tc>
              </a:tr>
              <a:tr h="1905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2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100"/>
                        <a:t>¿Cruzas constantemente a EE. UU.? Esto podría interesarte</a:t>
                      </a:r>
                      <a:endParaRPr b="1" sz="1100"/>
                    </a:p>
                  </a:txBody>
                  <a:tcPr marT="91425" marB="91425" marR="91425" marL="91425"/>
                </a:tc>
              </a:tr>
              <a:tr h="1905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3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100"/>
                        <a:t>3 cosas que debes saber antes de solicitar SENTRI</a:t>
                      </a:r>
                      <a:endParaRPr b="1" sz="1100"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2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SEMANA 4</a:t>
            </a:r>
            <a:endParaRPr b="1"/>
          </a:p>
        </p:txBody>
      </p:sp>
      <p:sp>
        <p:nvSpPr>
          <p:cNvPr id="138" name="Google Shape;138;p26"/>
          <p:cNvSpPr txBox="1"/>
          <p:nvPr/>
        </p:nvSpPr>
        <p:spPr>
          <a:xfrm>
            <a:off x="423100" y="1017725"/>
            <a:ext cx="39336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000">
              <a:solidFill>
                <a:schemeClr val="dk1"/>
              </a:solidFill>
            </a:endParaRPr>
          </a:p>
        </p:txBody>
      </p:sp>
      <p:sp>
        <p:nvSpPr>
          <p:cNvPr id="139" name="Google Shape;139;p26"/>
          <p:cNvSpPr txBox="1"/>
          <p:nvPr/>
        </p:nvSpPr>
        <p:spPr>
          <a:xfrm>
            <a:off x="423100" y="1017725"/>
            <a:ext cx="60201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 sz="1500">
              <a:solidFill>
                <a:schemeClr val="dk1"/>
              </a:solidFill>
            </a:endParaRPr>
          </a:p>
        </p:txBody>
      </p:sp>
      <p:graphicFrame>
        <p:nvGraphicFramePr>
          <p:cNvPr id="140" name="Google Shape;140;p26"/>
          <p:cNvGraphicFramePr/>
          <p:nvPr/>
        </p:nvGraphicFramePr>
        <p:xfrm>
          <a:off x="311700" y="13564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{880EA03A-4288-47FD-A2B5-A5AFC626DCEF}</a:tableStyleId>
              </a:tblPr>
              <a:tblGrid>
                <a:gridCol w="495300"/>
                <a:gridCol w="5848350"/>
              </a:tblGrid>
              <a:tr h="190500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11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100"/>
                        <a:t>RESIDENCIA EN MÉXICO </a:t>
                      </a:r>
                      <a:endParaRPr b="1" sz="1100"/>
                    </a:p>
                  </a:txBody>
                  <a:tcPr marT="91425" marB="91425" marR="91425" marL="91425"/>
                </a:tc>
              </a:tr>
              <a:tr h="1905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100"/>
                        <a:t>Residencia temporal vs. permanente: te explicamos la diferencia en menos de 30 segundos</a:t>
                      </a:r>
                      <a:endParaRPr b="1" sz="1100"/>
                    </a:p>
                  </a:txBody>
                  <a:tcPr marT="91425" marB="91425" marR="91425" marL="91425"/>
                </a:tc>
              </a:tr>
              <a:tr h="1905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2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100"/>
                        <a:t>¿Quieres vivir en México? 3 cosas que debes saber antes de iniciar tu trámite</a:t>
                      </a:r>
                      <a:endParaRPr b="1" sz="1100"/>
                    </a:p>
                  </a:txBody>
                  <a:tcPr marT="91425" marB="91425" marR="91425" marL="91425"/>
                </a:tc>
              </a:tr>
              <a:tr h="1905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3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100"/>
                        <a:t>Llegaste a México y quieres quedarte: ¿qué opciones tienes?</a:t>
                      </a:r>
                      <a:endParaRPr b="1" sz="1100"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